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F4D36"/>
          </a:solidFill>
          <a:ln/>
        </p:spPr>
      </p:sp>
      <p:pic>
        <p:nvPicPr>
          <p:cNvPr id="3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35024" y="548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PMG ATACADISTA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335024" y="8595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FB3A5"/>
                </a:solidFill>
              </a:rPr>
              <a:t>DE ALIMENTOS E BEBIDAS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F9B"/>
                </a:solidFill>
              </a:rPr>
              <a:t>PMG · PLANEJAMENTO ESTRATÉGICO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Trimestral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CEC5"/>
                </a:solidFill>
              </a:rPr>
              <a:t>Rumo aos R$ 200 milhões — resultados de cada área, a distância até a meta e o plano do próximo trimestre.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3A5"/>
                </a:solidFill>
              </a:rPr>
              <a:t>[ TRIMESTRE ] · [ ANO ]</a:t>
            </a:r>
            <a:endParaRPr lang="en-US" sz="1200" dirty="0"/>
          </a:p>
        </p:txBody>
      </p:sp>
      <p:pic>
        <p:nvPicPr>
          <p:cNvPr id="10" name="Image 1" descr="/home/claude/pmg-fechamento-trimestral/assets/pmg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EBEB3"/>
                </a:solidFill>
              </a:rPr>
              <a:t>PMG CONNECT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28613F"/>
                </a:solidFill>
              </a:rPr>
              <a:t>OBJETIVO DESTA APRESENTAÇÃO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 os departamentos em torno dos mesmos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1C"/>
                </a:solidFill>
              </a:rPr>
              <a:t>Unir os departamentos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D766F"/>
                </a:solidFill>
              </a:rPr>
              <a:t>Comercial, Logística, Marketing, Compras e Financeiro trazem seus números para a mesma conversa.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1488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1C"/>
                </a:solidFill>
              </a:rPr>
              <a:t>Dados e parâmetros por área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D766F"/>
                </a:solidFill>
              </a:rPr>
              <a:t>Cada setor apresenta os indicadores e metas que já acompanha — sem inventar métrica nova para a reunião.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0392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61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21C"/>
                </a:solidFill>
              </a:rPr>
              <a:t>Situação atual + projeção do trimestre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D766F"/>
                </a:solidFill>
              </a:rPr>
              <a:t>Onde cada área está agora e qual o crescimento esperado no próximo trimestre.</a:t>
            </a:r>
            <a:endParaRPr lang="en-US" sz="1250" dirty="0"/>
          </a:p>
        </p:txBody>
      </p:sp>
      <p:pic>
        <p:nvPicPr>
          <p:cNvPr id="16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VISÃO GERAL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FBF9B"/>
                </a:solidFill>
              </a:rPr>
              <a:t>O RITUAL TRIMESTRAL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fechamento trimestral funciona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685800" cy="6858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362456" y="2628900"/>
            <a:ext cx="0" cy="0"/>
          </a:xfrm>
          <a:prstGeom prst="line">
            <a:avLst/>
          </a:prstGeom>
          <a:noFill/>
          <a:ln w="19050">
            <a:solidFill>
              <a:srgbClr val="3A5A4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Cada área envia seus resultados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EB3"/>
                </a:solidFill>
              </a:rPr>
              <a:t>No formato padrão (próximo slide), com dados reais do trimestre.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6704" y="2286000"/>
            <a:ext cx="685800" cy="6858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46704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160520" y="2628900"/>
            <a:ext cx="0" cy="0"/>
          </a:xfrm>
          <a:prstGeom prst="line">
            <a:avLst/>
          </a:prstGeom>
          <a:noFill/>
          <a:ln w="19050">
            <a:solidFill>
              <a:srgbClr val="3A5A48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346704" y="32004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Compilação em uma apresentação única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346704" y="393192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EB3"/>
                </a:solidFill>
              </a:rPr>
              <a:t>Todas as áreas juntas, na mesma linha do tempo e no mesmo formato.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2286000"/>
            <a:ext cx="685800" cy="6858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44768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958584" y="2628900"/>
            <a:ext cx="0" cy="0"/>
          </a:xfrm>
          <a:prstGeom prst="line">
            <a:avLst/>
          </a:prstGeom>
          <a:noFill/>
          <a:ln w="19050">
            <a:solidFill>
              <a:srgbClr val="3A5A4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144768" y="32004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Reunião de fechamento trimestral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93192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EB3"/>
                </a:solidFill>
              </a:rPr>
              <a:t>A empresa toda vê o mesmo retrato — sem versões paralelas.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42832" y="2286000"/>
            <a:ext cx="685800" cy="6858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2832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200400"/>
            <a:ext cx="2542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Plano do próximo trimestre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942832" y="3931920"/>
            <a:ext cx="2542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EBEB3"/>
                </a:solidFill>
              </a:rPr>
              <a:t>A partir do que funcionou e do que não funcionou, cada área assume ações novas.</a:t>
            </a:r>
            <a:endParaRPr lang="en-US" sz="1100" dirty="0"/>
          </a:p>
        </p:txBody>
      </p:sp>
      <p:pic>
        <p:nvPicPr>
          <p:cNvPr id="23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EBEB3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EBEB3"/>
                </a:solidFill>
              </a:rPr>
              <a:t>VISÃO GERAL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28613F"/>
                </a:solidFill>
              </a:rPr>
              <a:t>MODELO PADRÃO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área traz para a reunião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66F"/>
                </a:solidFill>
              </a:rPr>
              <a:t>Mesmo formato para todas as áreas — isso é o que torna possível compilar tudo em uma única apresentação.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496312"/>
            <a:ext cx="457200" cy="4572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4414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221C"/>
                </a:solidFill>
              </a:rPr>
              <a:t>Resultados do trimestre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95351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D766F"/>
                </a:solidFill>
              </a:rPr>
              <a:t>Faturamento, volume e demais indicadores principais do trimestre — a preencher pela área.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2240280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2496312"/>
            <a:ext cx="457200" cy="4572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36792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414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221C"/>
                </a:solidFill>
              </a:rPr>
              <a:t>Comparativo com o trimestre anterior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95351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D766F"/>
                </a:solidFill>
              </a:rPr>
              <a:t>Evolução frente ao trimestre anterior — a preencher pela área.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370832"/>
            <a:ext cx="457200" cy="4572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159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221C"/>
                </a:solidFill>
              </a:rPr>
              <a:t>Parâmetros e metas do setor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280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D766F"/>
                </a:solidFill>
              </a:rPr>
              <a:t>Indicadores específicos que a área acompanha — a preencher pela área.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4114800"/>
            <a:ext cx="51663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6792" y="4370832"/>
            <a:ext cx="457200" cy="45720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3679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31596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8221C"/>
                </a:solidFill>
              </a:rPr>
              <a:t>Projeção para o próximo trimestre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8280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D766F"/>
                </a:solidFill>
              </a:rPr>
              <a:t>Expectativa de crescimento e principais iniciativas — a preencher pela área.</a:t>
            </a:r>
            <a:endParaRPr lang="en-US" sz="1150" dirty="0"/>
          </a:p>
        </p:txBody>
      </p:sp>
      <p:pic>
        <p:nvPicPr>
          <p:cNvPr id="25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VISÃO GERAL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73D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613F"/>
                </a:solidFill>
              </a:rPr>
              <a:t>RESULTADOS DO TRIMESTRE ·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Resultados do trimestre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584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Comparativo com o trimestre anterior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Parâmetros e metas do setor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Projeção para o próximo trimestre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3796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pic>
        <p:nvPicPr>
          <p:cNvPr id="22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MODELO PADRÃO POR ÁREA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73D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613F"/>
                </a:solidFill>
              </a:rPr>
              <a:t>RESULTADOS DO TRIMESTRE ·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Resultados do trimestre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584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Comparativo com o trimestre anterior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Parâmetros e metas do setor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Projeção para o próximo trimestre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3796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pic>
        <p:nvPicPr>
          <p:cNvPr id="22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MODELO PADRÃO POR ÁREA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73D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613F"/>
                </a:solidFill>
              </a:rPr>
              <a:t>RESULTADOS DO TRIMESTRE ·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Resultados do trimestre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584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Comparativo com o trimestre anterior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Parâmetros e metas do setor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Projeção para o próximo trimestre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3796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pic>
        <p:nvPicPr>
          <p:cNvPr id="22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MODELO PADRÃO POR ÁREA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73D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613F"/>
                </a:solidFill>
              </a:rPr>
              <a:t>RESULTADOS DO TRIMESTRE ·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Resultados do trimestre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584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Comparativo com o trimestre anterior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Parâmetros e metas do setor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Projeção para o próximo trimestre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3796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pic>
        <p:nvPicPr>
          <p:cNvPr id="22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MODELO PADRÃO POR ÁREA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173D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28613F"/>
                </a:solidFill>
              </a:rPr>
              <a:t>RESULTADOS DO TRIMESTRE · POR ÁREA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Financeiro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Resultados do trimestre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0584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35000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Comparativo com o trimestre anterior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55080" y="286207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537960" y="28620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Parâmetros e metas do setor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0584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4297680"/>
            <a:ext cx="51663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4498848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8221C"/>
                </a:solidFill>
              </a:rPr>
              <a:t>Projeção para o próximo trimestre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5010912"/>
            <a:ext cx="4617720" cy="914400"/>
          </a:xfrm>
          <a:prstGeom prst="roundRect">
            <a:avLst>
              <a:gd name="adj" fmla="val 5000"/>
            </a:avLst>
          </a:prstGeom>
          <a:solidFill>
            <a:srgbClr val="F7F8F5"/>
          </a:solidFill>
          <a:ln w="9525">
            <a:solidFill>
              <a:srgbClr val="DFE4DF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37960" y="501091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79E"/>
                </a:solidFill>
              </a:rPr>
              <a:t>A preencher pela área</a:t>
            </a:r>
            <a:endParaRPr lang="en-US" sz="1200" dirty="0"/>
          </a:p>
        </p:txBody>
      </p:sp>
      <p:pic>
        <p:nvPicPr>
          <p:cNvPr id="22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MODELO PADRÃO POR ÁREA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7FBF9B"/>
                </a:solidFill>
              </a:rPr>
              <a:t>SÍNTESE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distância até a meta precisa virar plano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F4D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A5"/>
                </a:solidFill>
              </a:rPr>
              <a:t>META ESTRUTURAL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B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R$ 200 milhões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EB3"/>
                </a:solidFill>
              </a:rPr>
              <a:t>mensal e sustentável — não é só um trimestre bom.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F4D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A5"/>
                </a:solidFill>
              </a:rPr>
              <a:t>FATURAMENTO DO TRIMESTRE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calcular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EB3"/>
                </a:solidFill>
              </a:rPr>
              <a:t>consolidado após todas as áreas enviarem seus dados.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2860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1F4D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0392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A5"/>
                </a:solidFill>
              </a:rPr>
              <a:t>GAP PARA A META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calcular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37947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EB3"/>
                </a:solidFill>
              </a:rPr>
              <a:t>diferença real depois da consolidação.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A79A"/>
                </a:solidFill>
              </a:rPr>
              <a:t>Números finais só depois que Comercial, Logística, Marketing, Compras e Financeiro enviarem seus resultados — nada aqui é estimativa solta.</a:t>
            </a:r>
            <a:endParaRPr lang="en-US" sz="1200" dirty="0"/>
          </a:p>
        </p:txBody>
      </p:sp>
      <p:pic>
        <p:nvPicPr>
          <p:cNvPr id="17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AEBEB3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AEBEB3"/>
                </a:solidFill>
              </a:rPr>
              <a:t>FECHAMENTO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28613F"/>
                </a:solidFill>
              </a:rPr>
              <a:t>PRÓXIMO PASSO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822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reunião de fechamento ao plano do próximo trimestre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21C"/>
                </a:solidFill>
              </a:rPr>
              <a:t>O que funcionou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D766F"/>
                </a:solidFill>
              </a:rPr>
              <a:t>O que puxou o resultado — para reforçar no próximo trimestre.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606040"/>
            <a:ext cx="502920" cy="50292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21C"/>
                </a:solidFill>
              </a:rPr>
              <a:t>O que não funcionou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D766F"/>
                </a:solidFill>
              </a:rPr>
              <a:t>Onde o plano não performou — e por quê.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FE4D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A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606040"/>
            <a:ext cx="502920" cy="502920"/>
          </a:xfrm>
          <a:prstGeom prst="ellipse">
            <a:avLst/>
          </a:prstGeom>
          <a:solidFill>
            <a:srgbClr val="2861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3375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221C"/>
                </a:solidFill>
              </a:rPr>
              <a:t>Ação por área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9319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D766F"/>
                </a:solidFill>
              </a:rPr>
              <a:t>Cada departamento sai da reunião com uma ação concreta, responsável e prazo definidos.</a:t>
            </a:r>
            <a:endParaRPr lang="en-US" sz="1200" dirty="0"/>
          </a:p>
        </p:txBody>
      </p:sp>
      <p:pic>
        <p:nvPicPr>
          <p:cNvPr id="19" name="Image 0" descr="/home/claude/pmg-fechamento-trimestral/assets/pmg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6345936"/>
            <a:ext cx="237744" cy="23774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104120" y="63916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D766F"/>
                </a:solidFill>
              </a:rPr>
              <a:t>PMG CONNECT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D766F"/>
                </a:solidFill>
              </a:rPr>
              <a:t>FECHAMENTO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PMG Atacadista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PMG — Fechamento Trimestral</dc:title>
  <dc:subject>Fechamento Trimestral</dc:subject>
  <dc:creator>PMG Connect</dc:creator>
  <cp:lastModifiedBy>PMG Connect</cp:lastModifiedBy>
  <cp:revision>1</cp:revision>
  <dcterms:created xsi:type="dcterms:W3CDTF">2026-09-09T16:28:03Z</dcterms:created>
  <dcterms:modified xsi:type="dcterms:W3CDTF">2026-09-09T16:28:03Z</dcterms:modified>
</cp:coreProperties>
</file>